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3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44340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990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96174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279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20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308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13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25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91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83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961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90163FD-D18D-4F30-ACFD-F2027CEC8BA9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E4E4419-B093-474D-AE22-8ED87077E75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885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1B7F8-8C1B-486A-9FE5-670839B9C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57" y="232229"/>
            <a:ext cx="5967909" cy="1445652"/>
          </a:xfrm>
        </p:spPr>
        <p:txBody>
          <a:bodyPr>
            <a:normAutofit/>
          </a:bodyPr>
          <a:lstStyle/>
          <a:p>
            <a:r>
              <a:rPr lang="en-US" dirty="0"/>
              <a:t>IC Platform</a:t>
            </a:r>
            <a:br>
              <a:rPr lang="en-US" dirty="0"/>
            </a:br>
            <a:r>
              <a:rPr lang="ru-RU" sz="2400" dirty="0"/>
              <a:t>Платформа для обучения </a:t>
            </a:r>
            <a:r>
              <a:rPr lang="en-US" sz="2400" dirty="0"/>
              <a:t>ML </a:t>
            </a:r>
            <a:r>
              <a:rPr lang="ru-RU" sz="2400" dirty="0"/>
              <a:t>моделей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2461B1-94C8-4E9F-ADB7-1D7591A79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50518">
            <a:off x="7000851" y="320427"/>
            <a:ext cx="5529943" cy="44369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E1008E7-8D9D-44E6-80DA-2498C83E3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05571">
            <a:off x="6818348" y="2476040"/>
            <a:ext cx="5867363" cy="252535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7B328AA-474A-4137-8D6C-53868066C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649034">
            <a:off x="6915123" y="4192990"/>
            <a:ext cx="6028329" cy="3114962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27117866-ABB0-4563-9BF6-E510BABBAFE4}"/>
              </a:ext>
            </a:extLst>
          </p:cNvPr>
          <p:cNvSpPr txBox="1">
            <a:spLocks/>
          </p:cNvSpPr>
          <p:nvPr/>
        </p:nvSpPr>
        <p:spPr>
          <a:xfrm>
            <a:off x="486157" y="4973053"/>
            <a:ext cx="5698749" cy="16527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/>
              <a:t>Руководитель:</a:t>
            </a:r>
          </a:p>
          <a:p>
            <a:r>
              <a:rPr lang="ru-RU" sz="2400" dirty="0"/>
              <a:t>Старший преподаватель кафедры МЦТ</a:t>
            </a:r>
          </a:p>
          <a:p>
            <a:r>
              <a:rPr lang="ru-RU" sz="2400" dirty="0"/>
              <a:t>И.В. Минина</a:t>
            </a:r>
          </a:p>
          <a:p>
            <a:r>
              <a:rPr lang="ru-RU" sz="2400" dirty="0"/>
              <a:t>Разработчики</a:t>
            </a:r>
            <a:r>
              <a:rPr lang="en-US" sz="2400" dirty="0"/>
              <a:t>:</a:t>
            </a:r>
          </a:p>
          <a:p>
            <a:r>
              <a:rPr lang="en-US" sz="2400" dirty="0"/>
              <a:t> </a:t>
            </a:r>
            <a:r>
              <a:rPr lang="ru-RU" sz="2400" dirty="0"/>
              <a:t>студент </a:t>
            </a:r>
            <a:r>
              <a:rPr lang="ru-RU" sz="2400" dirty="0" err="1"/>
              <a:t>Синдерев</a:t>
            </a:r>
            <a:r>
              <a:rPr lang="ru-RU" sz="2400" dirty="0"/>
              <a:t> А.А. 22ИСТ(АДМО)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312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1FD71-CC85-458B-AC8A-73CF7636A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16" y="78977"/>
            <a:ext cx="3348789" cy="815183"/>
          </a:xfrm>
        </p:spPr>
        <p:txBody>
          <a:bodyPr>
            <a:normAutofit fontScale="90000"/>
          </a:bodyPr>
          <a:lstStyle/>
          <a:p>
            <a:r>
              <a:rPr lang="ru-RU" dirty="0"/>
              <a:t>Актуально</a:t>
            </a:r>
            <a:r>
              <a:rPr lang="en-US" dirty="0"/>
              <a:t>?!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F65BDC-13DF-4B92-A608-562218340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101" y="780959"/>
            <a:ext cx="6476123" cy="4935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B13B59-F3C3-4863-9E47-6BC8EEC4A94B}"/>
              </a:ext>
            </a:extLst>
          </p:cNvPr>
          <p:cNvSpPr txBox="1"/>
          <p:nvPr/>
        </p:nvSpPr>
        <p:spPr>
          <a:xfrm>
            <a:off x="372981" y="1142024"/>
            <a:ext cx="38460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Актуальной проблемой является отсутствие удобных и наглядных инструментов, позволяющих пользователю настраивать обучения моделей с использованием графического интерфейса, отслеживать их статус. </a:t>
            </a:r>
          </a:p>
        </p:txBody>
      </p:sp>
    </p:spTree>
    <p:extLst>
      <p:ext uri="{BB962C8B-B14F-4D97-AF65-F5344CB8AC3E}">
        <p14:creationId xmlns:p14="http://schemas.microsoft.com/office/powerpoint/2010/main" val="4151568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E5A7C8C2-F3E6-4C4E-BFE3-0393A2F9D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41" y="1949593"/>
            <a:ext cx="4649354" cy="3424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9A14B5-CC31-4BD3-BDB9-024FA25A586A}"/>
              </a:ext>
            </a:extLst>
          </p:cNvPr>
          <p:cNvSpPr txBox="1"/>
          <p:nvPr/>
        </p:nvSpPr>
        <p:spPr>
          <a:xfrm>
            <a:off x="176463" y="1189042"/>
            <a:ext cx="10870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Целью проекта является разработка веб-интерфейса для управления процессом обучения моделей машинного обучения и мониторинга их состояния.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6A2D4-FD47-4C6F-A63A-E1D0B74D1ECF}"/>
              </a:ext>
            </a:extLst>
          </p:cNvPr>
          <p:cNvSpPr txBox="1"/>
          <p:nvPr/>
        </p:nvSpPr>
        <p:spPr>
          <a:xfrm>
            <a:off x="176462" y="1949593"/>
            <a:ext cx="591953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достижения поставленной цели были определены следующие задачи: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реализовать возможность загрузки </a:t>
            </a:r>
            <a:r>
              <a:rPr lang="ru-RU" dirty="0" err="1"/>
              <a:t>датасетов</a:t>
            </a:r>
            <a:r>
              <a:rPr lang="ru-RU" dirty="0"/>
              <a:t> через веб-интерфейс;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обеспечить создание задач обучения с настраиваемыми параметрами;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dirty="0"/>
              <a:t>реализовать отображение статуса задач обучения в реальном времени;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предоставить пользователю информацию о модели, количестве эпох и используемом устройстве;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обеспечить возможность удаления задач;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провести тестирование интерфейса и выявить проблемные зоны с точки зрения удобства использования.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8866BE69-76E1-416E-B1D5-11F44936FCD5}"/>
              </a:ext>
            </a:extLst>
          </p:cNvPr>
          <p:cNvSpPr txBox="1">
            <a:spLocks/>
          </p:cNvSpPr>
          <p:nvPr/>
        </p:nvSpPr>
        <p:spPr>
          <a:xfrm>
            <a:off x="501316" y="78977"/>
            <a:ext cx="4654884" cy="8151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Цели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4005726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D83DB8F7-D183-49BF-819B-A85E28D88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437" y="3753853"/>
            <a:ext cx="4138863" cy="310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FFD282D-F1AE-493F-9F86-C6F0B4C71784}"/>
              </a:ext>
            </a:extLst>
          </p:cNvPr>
          <p:cNvSpPr/>
          <p:nvPr/>
        </p:nvSpPr>
        <p:spPr>
          <a:xfrm>
            <a:off x="7734300" y="3911600"/>
            <a:ext cx="3359818" cy="736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F0CC1D8-7514-4E11-AB29-A8E57629F897}"/>
              </a:ext>
            </a:extLst>
          </p:cNvPr>
          <p:cNvSpPr txBox="1">
            <a:spLocks/>
          </p:cNvSpPr>
          <p:nvPr/>
        </p:nvSpPr>
        <p:spPr>
          <a:xfrm>
            <a:off x="501316" y="78977"/>
            <a:ext cx="2483184" cy="8151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Use-case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9A545-A2B8-47D0-8D95-17BA098533C1}"/>
              </a:ext>
            </a:extLst>
          </p:cNvPr>
          <p:cNvSpPr txBox="1"/>
          <p:nvPr/>
        </p:nvSpPr>
        <p:spPr>
          <a:xfrm>
            <a:off x="155074" y="1519800"/>
            <a:ext cx="37752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Пользователь может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Обучать модель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Следить за обучением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Анализировать все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Управлять задачами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Скачивать модели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835FDF1-8E61-4EEA-9021-9C63123E044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67363" y="190567"/>
            <a:ext cx="5528511" cy="463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41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B05D76A-A286-4BFB-9491-BE293EAFFA95}"/>
              </a:ext>
            </a:extLst>
          </p:cNvPr>
          <p:cNvSpPr txBox="1">
            <a:spLocks/>
          </p:cNvSpPr>
          <p:nvPr/>
        </p:nvSpPr>
        <p:spPr>
          <a:xfrm>
            <a:off x="577516" y="78977"/>
            <a:ext cx="5366084" cy="8151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Процесс разработки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7B7E2B5-E522-402F-AE62-AF085F185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616" y="2910227"/>
            <a:ext cx="3019578" cy="1785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65D04C-DDE8-41C8-8187-8AB136B872F5}"/>
              </a:ext>
            </a:extLst>
          </p:cNvPr>
          <p:cNvSpPr txBox="1"/>
          <p:nvPr/>
        </p:nvSpPr>
        <p:spPr>
          <a:xfrm>
            <a:off x="309032" y="1667571"/>
            <a:ext cx="22962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orchvision</a:t>
            </a:r>
            <a:endParaRPr lang="ru-RU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2ED9C-8004-443F-9266-5B7619F259BD}"/>
              </a:ext>
            </a:extLst>
          </p:cNvPr>
          <p:cNvSpPr txBox="1"/>
          <p:nvPr/>
        </p:nvSpPr>
        <p:spPr>
          <a:xfrm>
            <a:off x="309032" y="5414922"/>
            <a:ext cx="22962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i="0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orchmetrics</a:t>
            </a:r>
            <a:endParaRPr lang="ru-RU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789472BD-8F6A-4A8D-9324-EC8C224DB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6585" y="844154"/>
            <a:ext cx="20955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AA803C83-E237-4CFA-9231-537EBF937376}"/>
              </a:ext>
            </a:extLst>
          </p:cNvPr>
          <p:cNvCxnSpPr>
            <a:cxnSpLocks/>
            <a:stCxn id="8" idx="2"/>
            <a:endCxn id="1026" idx="0"/>
          </p:cNvCxnSpPr>
          <p:nvPr/>
        </p:nvCxnSpPr>
        <p:spPr>
          <a:xfrm>
            <a:off x="1457173" y="2190791"/>
            <a:ext cx="0" cy="71943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E8CB2DF1-4ADF-4A68-B62F-D25EE986D689}"/>
              </a:ext>
            </a:extLst>
          </p:cNvPr>
          <p:cNvCxnSpPr>
            <a:cxnSpLocks/>
            <a:stCxn id="11" idx="0"/>
            <a:endCxn id="1026" idx="2"/>
          </p:cNvCxnSpPr>
          <p:nvPr/>
        </p:nvCxnSpPr>
        <p:spPr>
          <a:xfrm flipV="1">
            <a:off x="1457173" y="4695485"/>
            <a:ext cx="0" cy="71943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228EC4AC-BE0D-470B-B255-DC990E23E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732959">
            <a:off x="5053917" y="942404"/>
            <a:ext cx="45720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AutoShape 20" descr="Picture background">
            <a:extLst>
              <a:ext uri="{FF2B5EF4-FFF2-40B4-BE49-F238E27FC236}">
                <a16:creationId xmlns:a16="http://schemas.microsoft.com/office/drawing/2014/main" id="{61857279-E957-466F-9FA6-98FE1F5946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AutoShape 2" descr="Picture background">
            <a:extLst>
              <a:ext uri="{FF2B5EF4-FFF2-40B4-BE49-F238E27FC236}">
                <a16:creationId xmlns:a16="http://schemas.microsoft.com/office/drawing/2014/main" id="{4E340184-F339-4609-8541-C57E457387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29955BC-E574-49D6-851F-94E212270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7851" y="4515536"/>
            <a:ext cx="4163460" cy="237648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5392C4-3634-43C9-8892-0B81B4402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6234" y="894160"/>
            <a:ext cx="2193758" cy="219375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C784AC-AEAE-4F66-A356-354AD4C6D6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333" y="2710220"/>
            <a:ext cx="2193758" cy="219375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8C11A2-5FDB-42A6-B4B8-AB90304CA8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97158" y="3497762"/>
            <a:ext cx="3609474" cy="2030329"/>
          </a:xfrm>
          <a:prstGeom prst="rect">
            <a:avLst/>
          </a:prstGeom>
        </p:spPr>
      </p:pic>
      <p:pic>
        <p:nvPicPr>
          <p:cNvPr id="10" name="Picture 2" descr="Picture background">
            <a:extLst>
              <a:ext uri="{FF2B5EF4-FFF2-40B4-BE49-F238E27FC236}">
                <a16:creationId xmlns:a16="http://schemas.microsoft.com/office/drawing/2014/main" id="{3A8FDD7C-7312-4667-9C0C-7BFCD17C4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59770">
            <a:off x="4268681" y="5533467"/>
            <a:ext cx="457200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775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711C2-C80A-47AF-8C70-E6F320D44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9528703">
            <a:off x="372850" y="4257747"/>
            <a:ext cx="3249069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Вот так </a:t>
            </a:r>
            <a:br>
              <a:rPr lang="ru-RU" dirty="0"/>
            </a:br>
            <a:r>
              <a:rPr lang="ru-RU" dirty="0"/>
              <a:t>оно связано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6B82EC-2BA0-4D43-9ED7-EFC3B49D7BD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095" y="894160"/>
            <a:ext cx="6109480" cy="5600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715801EE-5973-4DFA-AA92-5470155E21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8" t="21934" r="29398" b="22417"/>
          <a:stretch/>
        </p:blipFill>
        <p:spPr bwMode="auto">
          <a:xfrm>
            <a:off x="158956" y="1143380"/>
            <a:ext cx="3947886" cy="267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AE33940-D81C-42A4-850C-074F0DF3FF78}"/>
              </a:ext>
            </a:extLst>
          </p:cNvPr>
          <p:cNvSpPr txBox="1">
            <a:spLocks/>
          </p:cNvSpPr>
          <p:nvPr/>
        </p:nvSpPr>
        <p:spPr>
          <a:xfrm>
            <a:off x="577516" y="78977"/>
            <a:ext cx="5366084" cy="8151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Архитектура</a:t>
            </a:r>
          </a:p>
        </p:txBody>
      </p:sp>
    </p:spTree>
    <p:extLst>
      <p:ext uri="{BB962C8B-B14F-4D97-AF65-F5344CB8AC3E}">
        <p14:creationId xmlns:p14="http://schemas.microsoft.com/office/powerpoint/2010/main" val="1987374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4849E3A8-8747-44FD-B062-6CE367AA9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312" y="631631"/>
            <a:ext cx="5895195" cy="559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1CC6544-D190-45B9-820B-5E74656CFCB2}"/>
              </a:ext>
            </a:extLst>
          </p:cNvPr>
          <p:cNvSpPr txBox="1">
            <a:spLocks/>
          </p:cNvSpPr>
          <p:nvPr/>
        </p:nvSpPr>
        <p:spPr>
          <a:xfrm>
            <a:off x="577516" y="78977"/>
            <a:ext cx="1860884" cy="8151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Тесты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FA87F-6B4C-4CF3-BB99-F4A7FB6C5897}"/>
              </a:ext>
            </a:extLst>
          </p:cNvPr>
          <p:cNvSpPr txBox="1"/>
          <p:nvPr/>
        </p:nvSpPr>
        <p:spPr>
          <a:xfrm>
            <a:off x="292769" y="894160"/>
            <a:ext cx="46000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Результаты текстов показали, что основные сценарии работы с системой интуитивно понятны большинству пользователей. При этом мы узнали, что необходимо выполнить ряд работ по исправлению нескольких критически важных моментов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Ошибка в статусах задач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понятно, как должен выглядеть загружаемый </a:t>
            </a:r>
            <a:r>
              <a:rPr lang="en-US" dirty="0"/>
              <a:t>zip </a:t>
            </a:r>
            <a:r>
              <a:rPr lang="ru-RU" dirty="0"/>
              <a:t>файл.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Нету возможности обращаться к уже загруженным </a:t>
            </a:r>
            <a:r>
              <a:rPr lang="ru-RU" dirty="0" err="1"/>
              <a:t>датасетам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2742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6403481-3E31-4DD7-A6FA-D33578B5B899}"/>
              </a:ext>
            </a:extLst>
          </p:cNvPr>
          <p:cNvSpPr txBox="1">
            <a:spLocks/>
          </p:cNvSpPr>
          <p:nvPr/>
        </p:nvSpPr>
        <p:spPr>
          <a:xfrm>
            <a:off x="577516" y="78977"/>
            <a:ext cx="3352800" cy="8151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Заключение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58FBB-A4BF-48A0-930A-E3FE9DF1B0CF}"/>
              </a:ext>
            </a:extLst>
          </p:cNvPr>
          <p:cNvSpPr txBox="1"/>
          <p:nvPr/>
        </p:nvSpPr>
        <p:spPr>
          <a:xfrm>
            <a:off x="577516" y="953959"/>
            <a:ext cx="93204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Разработали веб-систему для обучения моделей машинного обучения.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Организовали </a:t>
            </a:r>
            <a:r>
              <a:rPr lang="ru-RU" dirty="0" err="1"/>
              <a:t>микросервисную</a:t>
            </a:r>
            <a:r>
              <a:rPr lang="ru-RU" dirty="0"/>
              <a:t> архитектуру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Настроили логирования и мониторит обучения в реальном времени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714EBC-3CA0-4F0C-B05B-6677DB8E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37" y="1937088"/>
            <a:ext cx="8887326" cy="467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49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A781D993-1BAE-498C-B5FA-23406394D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948" y="937512"/>
            <a:ext cx="9334500" cy="498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456472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147</TotalTime>
  <Words>240</Words>
  <Application>Microsoft Office PowerPoint</Application>
  <PresentationFormat>Широкоэкранный</PresentationFormat>
  <Paragraphs>38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Century Schoolbook</vt:lpstr>
      <vt:lpstr>Times New Roman</vt:lpstr>
      <vt:lpstr>Wingdings 2</vt:lpstr>
      <vt:lpstr>Вид</vt:lpstr>
      <vt:lpstr>IC Platform Платформа для обучения ML моделей </vt:lpstr>
      <vt:lpstr>Актуально?!</vt:lpstr>
      <vt:lpstr>Презентация PowerPoint</vt:lpstr>
      <vt:lpstr>Презентация PowerPoint</vt:lpstr>
      <vt:lpstr>Презентация PowerPoint</vt:lpstr>
      <vt:lpstr>Вот так  оно связано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Main Sindik</dc:creator>
  <cp:lastModifiedBy>Main Sindik</cp:lastModifiedBy>
  <cp:revision>23</cp:revision>
  <dcterms:created xsi:type="dcterms:W3CDTF">2025-12-22T09:09:49Z</dcterms:created>
  <dcterms:modified xsi:type="dcterms:W3CDTF">2025-12-23T07:00:16Z</dcterms:modified>
</cp:coreProperties>
</file>